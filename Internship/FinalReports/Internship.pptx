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Archivo Black" charset="1" panose="020B0A03020202020B04"/>
      <p:regular r:id="rId29"/>
    </p:embeddedFont>
    <p:embeddedFont>
      <p:font typeface="Poppins Bold" charset="1" panose="00000800000000000000"/>
      <p:regular r:id="rId30"/>
    </p:embeddedFont>
    <p:embeddedFont>
      <p:font typeface="Poppins" charset="1" panose="00000500000000000000"/>
      <p:regular r:id="rId31"/>
    </p:embeddedFont>
    <p:embeddedFont>
      <p:font typeface="Poppins Light" charset="1" panose="00000400000000000000"/>
      <p:regular r:id="rId32"/>
    </p:embeddedFont>
    <p:embeddedFont>
      <p:font typeface="Garet Bold" charset="1" panose="000000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Masters/notesMaster1.xml" Type="http://schemas.openxmlformats.org/officeDocument/2006/relationships/notesMaster"/><Relationship Id="rId34" Target="theme/theme2.xml" Type="http://schemas.openxmlformats.org/officeDocument/2006/relationships/theme"/><Relationship Id="rId35" Target="notesSlides/notesSlide1.xml" Type="http://schemas.openxmlformats.org/officeDocument/2006/relationships/notesSlide"/><Relationship Id="rId36" Target="notesSlides/notesSlide2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3.xml" Type="http://schemas.openxmlformats.org/officeDocument/2006/relationships/notesSlide"/><Relationship Id="rId39" Target="notesSlides/notesSlide4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5.xml" Type="http://schemas.openxmlformats.org/officeDocument/2006/relationships/notesSlide"/><Relationship Id="rId41" Target="notesSlides/notesSlide6.xml" Type="http://schemas.openxmlformats.org/officeDocument/2006/relationships/notesSlide"/><Relationship Id="rId42" Target="notesSlides/notesSlide7.xml" Type="http://schemas.openxmlformats.org/officeDocument/2006/relationships/notesSlide"/><Relationship Id="rId43" Target="notesSlides/notesSlide8.xml" Type="http://schemas.openxmlformats.org/officeDocument/2006/relationships/notesSlide"/><Relationship Id="rId44" Target="notesSlides/notesSlide9.xml" Type="http://schemas.openxmlformats.org/officeDocument/2006/relationships/notesSlide"/><Relationship Id="rId45" Target="notesSlides/notesSlide10.xml" Type="http://schemas.openxmlformats.org/officeDocument/2006/relationships/notesSlide"/><Relationship Id="rId46" Target="notesSlides/notesSlide11.xml" Type="http://schemas.openxmlformats.org/officeDocument/2006/relationships/notesSlide"/><Relationship Id="rId47" Target="notesSlides/notesSlide12.xml" Type="http://schemas.openxmlformats.org/officeDocument/2006/relationships/notesSlide"/><Relationship Id="rId48" Target="notesSlides/notesSlide13.xml" Type="http://schemas.openxmlformats.org/officeDocument/2006/relationships/notesSlide"/><Relationship Id="rId49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5.xml" Type="http://schemas.openxmlformats.org/officeDocument/2006/relationships/notesSlide"/><Relationship Id="rId51" Target="notesSlides/notesSlide16.xml" Type="http://schemas.openxmlformats.org/officeDocument/2006/relationships/notesSlide"/><Relationship Id="rId52" Target="notesSlides/notesSlide17.xml" Type="http://schemas.openxmlformats.org/officeDocument/2006/relationships/notesSlide"/><Relationship Id="rId53" Target="notesSlides/notesSlide18.xml" Type="http://schemas.openxmlformats.org/officeDocument/2006/relationships/notesSlide"/><Relationship Id="rId54" Target="notesSlides/notesSlide19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Rising rates of premature births demand specialized care in NICUs.</a:t>
            </a:r>
          </a:p>
          <a:p>
            <a:r>
              <a:rPr lang="en-US"/>
              <a:t/>
            </a:r>
          </a:p>
          <a:p>
            <a:r>
              <a:rPr lang="en-US"/>
              <a:t>Traditional intermittent monitoring makes it hard for clinicians to detect critical trends and rapid changes in infants' conditions.</a:t>
            </a:r>
          </a:p>
          <a:p>
            <a:r>
              <a:rPr lang="en-US"/>
              <a:t/>
            </a:r>
          </a:p>
          <a:p>
            <a:r>
              <a:rPr lang="en-US"/>
              <a:t>A comprehensive system integrating both hardware and software for continuous bedside monitoring.</a:t>
            </a:r>
          </a:p>
          <a:p>
            <a:r>
              <a:rPr lang="en-US"/>
              <a:t/>
            </a:r>
          </a:p>
          <a:p>
            <a:r>
              <a:rPr lang="en-US"/>
              <a:t>NRP collects and combines data from video, audio, and physiological measurements, plus body pose analysis for a full-picture assessment.</a:t>
            </a:r>
          </a:p>
          <a:p>
            <a:r>
              <a:rPr lang="en-US"/>
              <a:t/>
            </a:r>
          </a:p>
          <a:p>
            <a:r>
              <a:rPr lang="en-US"/>
              <a:t>A specialized algorithm that extracts vital signs (heart rate, respiration, blood oxygenation) from existing monitors for efficient tracking.</a:t>
            </a:r>
          </a:p>
          <a:p>
            <a:r>
              <a:rPr lang="en-US"/>
              <a:t/>
            </a:r>
          </a:p>
          <a:p>
            <a:r>
              <a:rPr lang="en-US"/>
              <a:t>By providing continuous data collection and advanced analytics, the NRP enhances monitoring and supports better clinical decisions.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Premature births lead to increased health risks, requiring specialized monitoring in NICUs.</a:t>
            </a:r>
          </a:p>
          <a:p>
            <a:r>
              <a:rPr lang="en-US"/>
              <a:t/>
            </a:r>
          </a:p>
          <a:p>
            <a:r>
              <a:rPr lang="en-US"/>
              <a:t>Heavy reliance on manual observation and invasive sensors.</a:t>
            </a:r>
          </a:p>
          <a:p>
            <a:r>
              <a:rPr lang="en-US"/>
              <a:t>Limited effectiveness due to these traditional methods.</a:t>
            </a:r>
          </a:p>
          <a:p>
            <a:r>
              <a:rPr lang="en-US"/>
              <a:t/>
            </a:r>
          </a:p>
          <a:p>
            <a:r>
              <a:rPr lang="en-US"/>
              <a:t>Recent improvements allow for some monitoring of infant behavior but remain insufficient for comprehensive care.</a:t>
            </a:r>
          </a:p>
          <a:p>
            <a:r>
              <a:rPr lang="en-US"/>
              <a:t/>
            </a:r>
          </a:p>
          <a:p>
            <a:r>
              <a:rPr lang="en-US"/>
              <a:t>An integrated solution that collects and synthesizes multiple data types to enhance diagnostic accuracy and monitoring quality.</a:t>
            </a:r>
          </a:p>
          <a:p>
            <a:r>
              <a:rPr lang="en-US"/>
              <a:t/>
            </a:r>
          </a:p>
          <a:p>
            <a:r>
              <a:rPr lang="en-US"/>
              <a:t>Automated Real-Time Data Collection</a:t>
            </a:r>
          </a:p>
          <a:p>
            <a:r>
              <a:rPr lang="en-US"/>
              <a:t/>
            </a:r>
          </a:p>
          <a:p>
            <a:r>
              <a:rPr lang="en-US"/>
              <a:t>Structured, Integrated Data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 . a . Cameras, Microphones,Wi-Fi-based CPU </a:t>
            </a:r>
          </a:p>
          <a:p>
            <a:r>
              <a:rPr lang="en-US"/>
              <a:t>1 . b .  user interface (GUI) for clini.</a:t>
            </a:r>
          </a:p>
          <a:p>
            <a:r>
              <a:rPr lang="en-US"/>
              <a:t/>
            </a:r>
          </a:p>
          <a:p>
            <a:r>
              <a:rPr lang="en-US"/>
              <a:t>2. a . 4K RGB camera and depth data using two binocular cameras.</a:t>
            </a:r>
          </a:p>
          <a:p>
            <a:r>
              <a:rPr lang="en-US"/>
              <a:t/>
            </a:r>
          </a:p>
          <a:p>
            <a:r>
              <a:rPr lang="en-US"/>
              <a:t>2 . b. Collects environmental and infant sounds through Plug &amp; Play microphones.</a:t>
            </a:r>
          </a:p>
          <a:p>
            <a:r>
              <a:rPr lang="en-US"/>
              <a:t/>
            </a:r>
          </a:p>
          <a:p>
            <a:r>
              <a:rPr lang="en-US"/>
              <a:t>2 . c . HR , RESP , and SPO2 are captured from medical monitors using the CardMed algorithm.</a:t>
            </a:r>
          </a:p>
          <a:p>
            <a:r>
              <a:rPr lang="en-US"/>
              <a:t/>
            </a:r>
          </a:p>
          <a:p>
            <a:r>
              <a:rPr lang="en-US"/>
              <a:t>2 . d . Uses AI to track 33 reference points .limbs, face, and joints.</a:t>
            </a:r>
          </a:p>
          <a:p>
            <a:r>
              <a:rPr lang="en-US"/>
              <a:t/>
            </a:r>
          </a:p>
          <a:p>
            <a:r>
              <a:rPr lang="en-US"/>
              <a:t>2 . e . Clinicians can tag significant events - crying, changes in vitals) during data collection.</a:t>
            </a:r>
          </a:p>
          <a:p>
            <a:r>
              <a:rPr lang="en-US"/>
              <a:t/>
            </a:r>
          </a:p>
          <a:p>
            <a:r>
              <a:rPr lang="en-US"/>
              <a:t>2 . f . The system automatically logs information about each trial, including start time, frequency, and parameter counts.</a:t>
            </a:r>
          </a:p>
          <a:p>
            <a:r>
              <a:rPr lang="en-US"/>
              <a:t/>
            </a:r>
          </a:p>
          <a:p>
            <a:r>
              <a:rPr lang="en-US"/>
              <a:t>3.a.  Every 60 seconds, the system captures a frame from the monitor display.</a:t>
            </a:r>
          </a:p>
          <a:p>
            <a:r>
              <a:rPr lang="en-US"/>
              <a:t/>
            </a:r>
          </a:p>
          <a:p>
            <a:r>
              <a:rPr lang="en-US"/>
              <a:t>3.b. identifies the physiological parameter labels (like HR for heart rate) and their values.</a:t>
            </a:r>
          </a:p>
          <a:p>
            <a:r>
              <a:rPr lang="en-US"/>
              <a:t/>
            </a:r>
          </a:p>
          <a:p>
            <a:r>
              <a:rPr lang="en-US"/>
              <a:t>3.c.Values that fall outside expected clinical ranges are flagged, and the system captures a new image for re-processing.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4.a. Structured, hierarchical format </a:t>
            </a:r>
          </a:p>
          <a:p>
            <a:r>
              <a:rPr lang="en-US"/>
              <a:t>-machine-readable formats like JSON and CSV.</a:t>
            </a:r>
          </a:p>
          <a:p>
            <a:r>
              <a:rPr lang="en-US"/>
              <a:t/>
            </a:r>
          </a:p>
          <a:p>
            <a:r>
              <a:rPr lang="en-US"/>
              <a:t>Outliers or inconsistencies</a:t>
            </a:r>
          </a:p>
          <a:p>
            <a:r>
              <a:rPr lang="en-US"/>
              <a:t>heart rate values above 220 bpm</a:t>
            </a:r>
          </a:p>
          <a:p>
            <a:r>
              <a:rPr lang="en-US"/>
              <a:t>-data quality</a:t>
            </a:r>
          </a:p>
          <a:p>
            <a:r>
              <a:rPr lang="en-US"/>
              <a:t/>
            </a:r>
          </a:p>
          <a:p>
            <a:r>
              <a:rPr lang="en-US"/>
              <a:t>Clinicians add labels categorize events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4.a. Structured, hierarchical format </a:t>
            </a:r>
          </a:p>
          <a:p>
            <a:r>
              <a:rPr lang="en-US"/>
              <a:t>-machine-readable formats like JSON and CSV.</a:t>
            </a:r>
          </a:p>
          <a:p>
            <a:r>
              <a:rPr lang="en-US"/>
              <a:t/>
            </a:r>
          </a:p>
          <a:p>
            <a:r>
              <a:rPr lang="en-US"/>
              <a:t>Outliers or inconsistencies</a:t>
            </a:r>
          </a:p>
          <a:p>
            <a:r>
              <a:rPr lang="en-US"/>
              <a:t>heart rate values above 220 bpm</a:t>
            </a:r>
          </a:p>
          <a:p>
            <a:r>
              <a:rPr lang="en-US"/>
              <a:t>-data quality</a:t>
            </a:r>
          </a:p>
          <a:p>
            <a:r>
              <a:rPr lang="en-US"/>
              <a:t/>
            </a:r>
          </a:p>
          <a:p>
            <a:r>
              <a:rPr lang="en-US"/>
              <a:t>Clinicians add labels categorize events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4.a. Structured, hierarchical format </a:t>
            </a:r>
          </a:p>
          <a:p>
            <a:r>
              <a:rPr lang="en-US"/>
              <a:t>-machine-readable formats like JSON and CSV.</a:t>
            </a:r>
          </a:p>
          <a:p>
            <a:r>
              <a:rPr lang="en-US"/>
              <a:t/>
            </a:r>
          </a:p>
          <a:p>
            <a:r>
              <a:rPr lang="en-US"/>
              <a:t>Outliers or inconsistencies</a:t>
            </a:r>
          </a:p>
          <a:p>
            <a:r>
              <a:rPr lang="en-US"/>
              <a:t>heart rate values above 220 bpm</a:t>
            </a:r>
          </a:p>
          <a:p>
            <a:r>
              <a:rPr lang="en-US"/>
              <a:t>-data quality</a:t>
            </a:r>
          </a:p>
          <a:p>
            <a:r>
              <a:rPr lang="en-US"/>
              <a:t/>
            </a:r>
          </a:p>
          <a:p>
            <a:r>
              <a:rPr lang="en-US"/>
              <a:t>Clinicians add labels categorize events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4.a. Structured, hierarchical format </a:t>
            </a:r>
          </a:p>
          <a:p>
            <a:r>
              <a:rPr lang="en-US"/>
              <a:t>-machine-readable formats like JSON and CSV.</a:t>
            </a:r>
          </a:p>
          <a:p>
            <a:r>
              <a:rPr lang="en-US"/>
              <a:t/>
            </a:r>
          </a:p>
          <a:p>
            <a:r>
              <a:rPr lang="en-US"/>
              <a:t>Outliers or inconsistencies</a:t>
            </a:r>
          </a:p>
          <a:p>
            <a:r>
              <a:rPr lang="en-US"/>
              <a:t>heart rate values above 220 bpm</a:t>
            </a:r>
          </a:p>
          <a:p>
            <a:r>
              <a:rPr lang="en-US"/>
              <a:t>-data quality</a:t>
            </a:r>
          </a:p>
          <a:p>
            <a:r>
              <a:rPr lang="en-US"/>
              <a:t/>
            </a:r>
          </a:p>
          <a:p>
            <a:r>
              <a:rPr lang="en-US"/>
              <a:t>Clinicians add labels categorize events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4.a. Structured, hierarchical format </a:t>
            </a:r>
          </a:p>
          <a:p>
            <a:r>
              <a:rPr lang="en-US"/>
              <a:t>-machine-readable formats like JSON and CSV.</a:t>
            </a:r>
          </a:p>
          <a:p>
            <a:r>
              <a:rPr lang="en-US"/>
              <a:t/>
            </a:r>
          </a:p>
          <a:p>
            <a:r>
              <a:rPr lang="en-US"/>
              <a:t>Outliers or inconsistencies</a:t>
            </a:r>
          </a:p>
          <a:p>
            <a:r>
              <a:rPr lang="en-US"/>
              <a:t>heart rate values above 220 bpm</a:t>
            </a:r>
          </a:p>
          <a:p>
            <a:r>
              <a:rPr lang="en-US"/>
              <a:t>-data quality</a:t>
            </a:r>
          </a:p>
          <a:p>
            <a:r>
              <a:rPr lang="en-US"/>
              <a:t/>
            </a:r>
          </a:p>
          <a:p>
            <a:r>
              <a:rPr lang="en-US"/>
              <a:t>Clinicians add labels categorize events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4.a. Structured, hierarchical format </a:t>
            </a:r>
          </a:p>
          <a:p>
            <a:r>
              <a:rPr lang="en-US"/>
              <a:t>-machine-readable formats like JSON and CSV.</a:t>
            </a:r>
          </a:p>
          <a:p>
            <a:r>
              <a:rPr lang="en-US"/>
              <a:t/>
            </a:r>
          </a:p>
          <a:p>
            <a:r>
              <a:rPr lang="en-US"/>
              <a:t>Outliers or inconsistencies</a:t>
            </a:r>
          </a:p>
          <a:p>
            <a:r>
              <a:rPr lang="en-US"/>
              <a:t>heart rate values above 220 bpm</a:t>
            </a:r>
          </a:p>
          <a:p>
            <a:r>
              <a:rPr lang="en-US"/>
              <a:t>-data quality</a:t>
            </a:r>
          </a:p>
          <a:p>
            <a:r>
              <a:rPr lang="en-US"/>
              <a:t/>
            </a:r>
          </a:p>
          <a:p>
            <a:r>
              <a:rPr lang="en-US"/>
              <a:t>Clinicians add labels categorize events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4.a. Structured, hierarchical format </a:t>
            </a:r>
          </a:p>
          <a:p>
            <a:r>
              <a:rPr lang="en-US"/>
              <a:t>-machine-readable formats like JSON and CSV.</a:t>
            </a:r>
          </a:p>
          <a:p>
            <a:r>
              <a:rPr lang="en-US"/>
              <a:t/>
            </a:r>
          </a:p>
          <a:p>
            <a:r>
              <a:rPr lang="en-US"/>
              <a:t>Outliers or inconsistencies</a:t>
            </a:r>
          </a:p>
          <a:p>
            <a:r>
              <a:rPr lang="en-US"/>
              <a:t>heart rate values above 220 bpm</a:t>
            </a:r>
          </a:p>
          <a:p>
            <a:r>
              <a:rPr lang="en-US"/>
              <a:t>-data quality</a:t>
            </a:r>
          </a:p>
          <a:p>
            <a:r>
              <a:rPr lang="en-US"/>
              <a:t/>
            </a:r>
          </a:p>
          <a:p>
            <a:r>
              <a:rPr lang="en-US"/>
              <a:t>Clinicians add labels categorize events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4.a. Structured, hierarchical format </a:t>
            </a:r>
          </a:p>
          <a:p>
            <a:r>
              <a:rPr lang="en-US"/>
              <a:t>-machine-readable formats like JSON and CSV.</a:t>
            </a:r>
          </a:p>
          <a:p>
            <a:r>
              <a:rPr lang="en-US"/>
              <a:t/>
            </a:r>
          </a:p>
          <a:p>
            <a:r>
              <a:rPr lang="en-US"/>
              <a:t>Outliers or inconsistencies</a:t>
            </a:r>
          </a:p>
          <a:p>
            <a:r>
              <a:rPr lang="en-US"/>
              <a:t>heart rate values above 220 bpm</a:t>
            </a:r>
          </a:p>
          <a:p>
            <a:r>
              <a:rPr lang="en-US"/>
              <a:t>-data quality</a:t>
            </a:r>
          </a:p>
          <a:p>
            <a:r>
              <a:rPr lang="en-US"/>
              <a:t/>
            </a:r>
          </a:p>
          <a:p>
            <a:r>
              <a:rPr lang="en-US"/>
              <a:t>Clinicians add labels categorize events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4.a. Structured, hierarchical format </a:t>
            </a:r>
          </a:p>
          <a:p>
            <a:r>
              <a:rPr lang="en-US"/>
              <a:t>-machine-readable formats like JSON and CSV.</a:t>
            </a:r>
          </a:p>
          <a:p>
            <a:r>
              <a:rPr lang="en-US"/>
              <a:t/>
            </a:r>
          </a:p>
          <a:p>
            <a:r>
              <a:rPr lang="en-US"/>
              <a:t>Outliers or inconsistencies</a:t>
            </a:r>
          </a:p>
          <a:p>
            <a:r>
              <a:rPr lang="en-US"/>
              <a:t>heart rate values above 220 bpm</a:t>
            </a:r>
          </a:p>
          <a:p>
            <a:r>
              <a:rPr lang="en-US"/>
              <a:t>-data quality</a:t>
            </a:r>
          </a:p>
          <a:p>
            <a:r>
              <a:rPr lang="en-US"/>
              <a:t/>
            </a:r>
          </a:p>
          <a:p>
            <a:r>
              <a:rPr lang="en-US"/>
              <a:t>Clinicians add labels categorize events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4.a. Structured, hierarchical format </a:t>
            </a:r>
          </a:p>
          <a:p>
            <a:r>
              <a:rPr lang="en-US"/>
              <a:t>-machine-readable formats like JSON and CSV.</a:t>
            </a:r>
          </a:p>
          <a:p>
            <a:r>
              <a:rPr lang="en-US"/>
              <a:t/>
            </a:r>
          </a:p>
          <a:p>
            <a:r>
              <a:rPr lang="en-US"/>
              <a:t>Outliers or inconsistencies</a:t>
            </a:r>
          </a:p>
          <a:p>
            <a:r>
              <a:rPr lang="en-US"/>
              <a:t>heart rate values above 220 bpm</a:t>
            </a:r>
          </a:p>
          <a:p>
            <a:r>
              <a:rPr lang="en-US"/>
              <a:t>-data quality</a:t>
            </a:r>
          </a:p>
          <a:p>
            <a:r>
              <a:rPr lang="en-US"/>
              <a:t/>
            </a:r>
          </a:p>
          <a:p>
            <a:r>
              <a:rPr lang="en-US"/>
              <a:t>Clinicians add labels categorize events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4.a. Structured, hierarchical format </a:t>
            </a:r>
          </a:p>
          <a:p>
            <a:r>
              <a:rPr lang="en-US"/>
              <a:t>-machine-readable formats like JSON and CSV.</a:t>
            </a:r>
          </a:p>
          <a:p>
            <a:r>
              <a:rPr lang="en-US"/>
              <a:t/>
            </a:r>
          </a:p>
          <a:p>
            <a:r>
              <a:rPr lang="en-US"/>
              <a:t>Outliers or inconsistencies</a:t>
            </a:r>
          </a:p>
          <a:p>
            <a:r>
              <a:rPr lang="en-US"/>
              <a:t>heart rate values above 220 bpm</a:t>
            </a:r>
          </a:p>
          <a:p>
            <a:r>
              <a:rPr lang="en-US"/>
              <a:t>-data quality</a:t>
            </a:r>
          </a:p>
          <a:p>
            <a:r>
              <a:rPr lang="en-US"/>
              <a:t/>
            </a:r>
          </a:p>
          <a:p>
            <a:r>
              <a:rPr lang="en-US"/>
              <a:t>Clinicians add labels categorize events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4.a. Structured, hierarchical format </a:t>
            </a:r>
          </a:p>
          <a:p>
            <a:r>
              <a:rPr lang="en-US"/>
              <a:t>-machine-readable formats like JSON and CSV.</a:t>
            </a:r>
          </a:p>
          <a:p>
            <a:r>
              <a:rPr lang="en-US"/>
              <a:t/>
            </a:r>
          </a:p>
          <a:p>
            <a:r>
              <a:rPr lang="en-US"/>
              <a:t>Outliers or inconsistencies</a:t>
            </a:r>
          </a:p>
          <a:p>
            <a:r>
              <a:rPr lang="en-US"/>
              <a:t>heart rate values above 220 bpm</a:t>
            </a:r>
          </a:p>
          <a:p>
            <a:r>
              <a:rPr lang="en-US"/>
              <a:t>-data quality</a:t>
            </a:r>
          </a:p>
          <a:p>
            <a:r>
              <a:rPr lang="en-US"/>
              <a:t/>
            </a:r>
          </a:p>
          <a:p>
            <a:r>
              <a:rPr lang="en-US"/>
              <a:t>Clinicians add labels categorize events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4.a. Structured, hierarchical format </a:t>
            </a:r>
          </a:p>
          <a:p>
            <a:r>
              <a:rPr lang="en-US"/>
              <a:t>-machine-readable formats like JSON and CSV.</a:t>
            </a:r>
          </a:p>
          <a:p>
            <a:r>
              <a:rPr lang="en-US"/>
              <a:t/>
            </a:r>
          </a:p>
          <a:p>
            <a:r>
              <a:rPr lang="en-US"/>
              <a:t>Outliers or inconsistencies</a:t>
            </a:r>
          </a:p>
          <a:p>
            <a:r>
              <a:rPr lang="en-US"/>
              <a:t>heart rate values above 220 bpm</a:t>
            </a:r>
          </a:p>
          <a:p>
            <a:r>
              <a:rPr lang="en-US"/>
              <a:t>-data quality</a:t>
            </a:r>
          </a:p>
          <a:p>
            <a:r>
              <a:rPr lang="en-US"/>
              <a:t/>
            </a:r>
          </a:p>
          <a:p>
            <a:r>
              <a:rPr lang="en-US"/>
              <a:t>Clinicians add labels categorize events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NRP collects continuous data on crucial physiological metrics like heart rate, oxygen levels, and respiration.</a:t>
            </a:r>
          </a:p>
          <a:p>
            <a:r>
              <a:rPr lang="en-US"/>
              <a:t/>
            </a:r>
          </a:p>
          <a:p>
            <a:r>
              <a:rPr lang="en-US"/>
              <a:t>Recording and labeling of health data. no manual input, data consis.</a:t>
            </a:r>
          </a:p>
          <a:p>
            <a:r>
              <a:rPr lang="en-US"/>
              <a:t/>
            </a:r>
          </a:p>
          <a:p>
            <a:r>
              <a:rPr lang="en-US"/>
              <a:t>Continuous monitoring movements and behaviors sleep patterns and crying</a:t>
            </a:r>
          </a:p>
          <a:p>
            <a:r>
              <a:rPr lang="en-US"/>
              <a:t/>
            </a:r>
          </a:p>
          <a:p>
            <a:r>
              <a:rPr lang="en-US"/>
              <a:t>CardMed algorithm, NRP pulls data directly from existing medical device monitors.</a:t>
            </a:r>
          </a:p>
          <a:p>
            <a:r>
              <a:rPr lang="en-US"/>
              <a:t/>
            </a:r>
          </a:p>
          <a:p>
            <a:r>
              <a:rPr lang="en-US"/>
              <a:t>Real-time, data-driven insights from the NRP allow clinicians to make informed decisions.</a:t>
            </a:r>
          </a:p>
          <a:p>
            <a:r>
              <a:rPr lang="en-US"/>
              <a:t/>
            </a:r>
          </a:p>
          <a:p>
            <a:r>
              <a:rPr lang="en-US"/>
              <a:t>Structured data collected serves as a valuable resource for research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NRP collects continuous data on crucial physiological metrics like heart rate, oxygen levels, and respiration.</a:t>
            </a:r>
          </a:p>
          <a:p>
            <a:r>
              <a:rPr lang="en-US"/>
              <a:t/>
            </a:r>
          </a:p>
          <a:p>
            <a:r>
              <a:rPr lang="en-US"/>
              <a:t>Recording and labeling of health data. no manual input, data consis.</a:t>
            </a:r>
          </a:p>
          <a:p>
            <a:r>
              <a:rPr lang="en-US"/>
              <a:t/>
            </a:r>
          </a:p>
          <a:p>
            <a:r>
              <a:rPr lang="en-US"/>
              <a:t>Continuous monitoring movements and behaviors sleep patterns and crying</a:t>
            </a:r>
          </a:p>
          <a:p>
            <a:r>
              <a:rPr lang="en-US"/>
              <a:t/>
            </a:r>
          </a:p>
          <a:p>
            <a:r>
              <a:rPr lang="en-US"/>
              <a:t>CardMed algorithm, NRP pulls data directly from existing medical device monitors.</a:t>
            </a:r>
          </a:p>
          <a:p>
            <a:r>
              <a:rPr lang="en-US"/>
              <a:t/>
            </a:r>
          </a:p>
          <a:p>
            <a:r>
              <a:rPr lang="en-US"/>
              <a:t>Real-time, data-driven insights from the NRP allow clinicians to make informed decisions.</a:t>
            </a:r>
          </a:p>
          <a:p>
            <a:r>
              <a:rPr lang="en-US"/>
              <a:t/>
            </a:r>
          </a:p>
          <a:p>
            <a:r>
              <a:rPr lang="en-US"/>
              <a:t>Structured data collected serves as a valuable resource for research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964297" cy="878582"/>
          </a:xfrm>
          <a:custGeom>
            <a:avLst/>
            <a:gdLst/>
            <a:ahLst/>
            <a:cxnLst/>
            <a:rect r="r" b="b" t="t" l="l"/>
            <a:pathLst>
              <a:path h="878582" w="964297">
                <a:moveTo>
                  <a:pt x="0" y="0"/>
                </a:moveTo>
                <a:lnTo>
                  <a:pt x="964297" y="0"/>
                </a:lnTo>
                <a:lnTo>
                  <a:pt x="964297" y="878582"/>
                </a:lnTo>
                <a:lnTo>
                  <a:pt x="0" y="878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40609" y="3650022"/>
            <a:ext cx="12606782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PROFESSIONAL INSIGHTS AS AN </a:t>
            </a:r>
          </a:p>
          <a:p>
            <a:pPr algn="ctr" marL="0" indent="0" lvl="0">
              <a:lnSpc>
                <a:spcPts val="6000"/>
              </a:lnSpc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INFORMATION TECHNOLOGY INTERN AT GLOBAL INDUSTRIAL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032178" y="1242282"/>
            <a:ext cx="3287121" cy="665000"/>
          </a:xfrm>
          <a:custGeom>
            <a:avLst/>
            <a:gdLst/>
            <a:ahLst/>
            <a:cxnLst/>
            <a:rect r="r" b="b" t="t" l="l"/>
            <a:pathLst>
              <a:path h="665000" w="3287121">
                <a:moveTo>
                  <a:pt x="0" y="0"/>
                </a:moveTo>
                <a:lnTo>
                  <a:pt x="3287121" y="0"/>
                </a:lnTo>
                <a:lnTo>
                  <a:pt x="3287121" y="665000"/>
                </a:lnTo>
                <a:lnTo>
                  <a:pt x="0" y="665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8198024"/>
            <a:ext cx="3366096" cy="1082142"/>
            <a:chOff x="0" y="0"/>
            <a:chExt cx="4488128" cy="144285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4488128" cy="483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PRESENTED BY: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76809"/>
              <a:ext cx="4488128" cy="9660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9"/>
                </a:lnSpc>
              </a:pPr>
              <a:r>
                <a:rPr lang="en-US" sz="2199" b="true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AKHIL SHETTY M </a:t>
              </a:r>
            </a:p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2B2B2B"/>
                  </a:solidFill>
                  <a:latin typeface="Poppins"/>
                  <a:ea typeface="Poppins"/>
                  <a:cs typeface="Poppins"/>
                  <a:sym typeface="Poppins"/>
                </a:rPr>
                <a:t>4SO21CS013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14427" y="8198024"/>
            <a:ext cx="4119801" cy="1060276"/>
            <a:chOff x="0" y="0"/>
            <a:chExt cx="5493067" cy="141370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5493067" cy="483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INTERNAL  GUIDE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447655"/>
              <a:ext cx="5493067" cy="9660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9"/>
                </a:lnSpc>
              </a:pPr>
              <a:r>
                <a:rPr lang="en-US" sz="2199" b="true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Dr Sridevi Saralaya </a:t>
              </a:r>
            </a:p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2B2B2B"/>
                  </a:solidFill>
                  <a:latin typeface="Poppins"/>
                  <a:ea typeface="Poppins"/>
                  <a:cs typeface="Poppins"/>
                  <a:sym typeface="Poppins"/>
                </a:rPr>
                <a:t>Professor, Department of CSE 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253886" y="1119376"/>
            <a:ext cx="4321082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St. Joseph Engineering College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Vamanjoor, Mangalore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896863" y="8198024"/>
            <a:ext cx="4119801" cy="1060276"/>
            <a:chOff x="0" y="0"/>
            <a:chExt cx="5493067" cy="141370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5493067" cy="483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EXTERNAL  GUIDE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447655"/>
              <a:ext cx="5493067" cy="9660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9"/>
                </a:lnSpc>
              </a:pPr>
              <a:r>
                <a:rPr lang="en-US" sz="2199" b="true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Mr. Satyasurya Benarji</a:t>
              </a:r>
            </a:p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2B2B2B"/>
                  </a:solidFill>
                  <a:latin typeface="Poppins"/>
                  <a:ea typeface="Poppins"/>
                  <a:cs typeface="Poppins"/>
                  <a:sym typeface="Poppins"/>
                </a:rPr>
                <a:t>Manager, IT Development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428875"/>
            <a:ext cx="16230600" cy="785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b="true" sz="2999" spc="-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Industry Exposure: </a:t>
            </a:r>
            <a:r>
              <a:rPr lang="en-US" sz="2999" spc="-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gain an understanding of corporate structure, agile workflows, ticket-based development, and code collaboration usi</a:t>
            </a:r>
            <a:r>
              <a:rPr lang="en-US" sz="2999" spc="-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ng tools like Bitbucket.</a:t>
            </a:r>
          </a:p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b="true" sz="2999" spc="-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Technical Proficiency: </a:t>
            </a:r>
            <a:r>
              <a:rPr lang="en-US" sz="2999" spc="-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 strengthen skills in full-stack development, focusing on React, Java, Next.js, and frameworks.</a:t>
            </a:r>
          </a:p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b="true" sz="2999" spc="-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Development:  </a:t>
            </a:r>
            <a:r>
              <a:rPr lang="en-US" sz="2999" spc="-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build and deploy real-world applications using modern front-end and back-end technologies with real-time API integration.</a:t>
            </a:r>
          </a:p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b="true" sz="2999" spc="-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Collaboration: </a:t>
            </a:r>
            <a:r>
              <a:rPr lang="en-US" sz="2999" spc="-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learn effective communication, participate in team meetings, and contribute to projects through peer reviews and version control.</a:t>
            </a:r>
          </a:p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b="true" sz="2999" spc="-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Solving: </a:t>
            </a:r>
            <a:r>
              <a:rPr lang="en-US" sz="2999" spc="-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develop debugging skills and the ability to implement efficient, scalable solutions to practical software challenges.</a:t>
            </a:r>
          </a:p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b="true" sz="2999" spc="-5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Continuous Learning:  </a:t>
            </a:r>
            <a:r>
              <a:rPr lang="en-US" sz="2999" spc="-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continuously learn and apply new tools, frameworks, and best practices in a professional development environment.</a:t>
            </a:r>
          </a:p>
          <a:p>
            <a:pPr algn="just">
              <a:lnSpc>
                <a:spcPts val="4499"/>
              </a:lnSpc>
            </a:pPr>
          </a:p>
          <a:p>
            <a:pPr algn="just">
              <a:lnSpc>
                <a:spcPts val="44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435153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38218" y="971550"/>
            <a:ext cx="432108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01/22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04900"/>
            <a:ext cx="816199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00"/>
              </a:lnSpc>
            </a:pPr>
            <a:r>
              <a:rPr lang="en-US" sz="5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ABOUT THE COMPANY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406738" y="981075"/>
            <a:ext cx="85256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02/22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24125"/>
            <a:ext cx="16230600" cy="673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Established in 1949 as Global Equipment Company, bringing over 75 years of industry experience.</a:t>
            </a:r>
          </a:p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Headquartered in Port Washington, New York, with operations across the U.S. and Canada.</a:t>
            </a:r>
          </a:p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Serves a diverse customer base including small to mid-sized businesses, large enterprises, and public sector organizations.</a:t>
            </a:r>
          </a:p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Offers an extensive catalog across 21 product categories such as material handling, storage, safety, HVAC, and more.</a:t>
            </a:r>
          </a:p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Supplies products from trusted national brands as well as its own Global Industrial Exclusive Brands™.</a:t>
            </a:r>
          </a:p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Committed to delivering customer-first service, deep product expertise, and innovative business solutions.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04900"/>
            <a:ext cx="942742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OVERVIEW OF THE COMPANY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412394" y="981075"/>
            <a:ext cx="84690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03/22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24125"/>
            <a:ext cx="16028848" cy="673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Products &amp; Services: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leading provider of industrial-strength solutions across 21 categories, including material handling, storage, safety, and HVAC. We feature a comprehensive selection of national and exclusive brands to meet diverse customer needs.</a:t>
            </a:r>
          </a:p>
          <a:p>
            <a:pPr algn="just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Model: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value-added distributor catering to SMCs, enterprise clients, and the public sector. We reach our customers through dedicated marketing teams and a robust e-commerce platform, ensuring seamless access and support.</a:t>
            </a:r>
          </a:p>
          <a:p>
            <a:pPr algn="just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Market Position: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With over 75 years of industry expertise, we are a recognized leader based in Port Washington, NY, serving customers across the U.S. and Canada. Our experience and reputation set us apart in the industrial distribution landscape.</a:t>
            </a:r>
          </a:p>
          <a:p>
            <a:pPr algn="just" marL="647695" indent="-323848" lvl="1">
              <a:lnSpc>
                <a:spcPts val="35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Growth &amp; Future Outlook: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Founded in 1949, our commitment remains focused on expanding our product offerings and enhancing operational efficiency to sustain our leadership position and drive continued growth.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524124"/>
            <a:ext cx="16230600" cy="673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Front-End &amp; Full-Stack Development: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Built responsive front-end components with React, HTML, CSS, and JavaScript, integrating with Java backend frameworks like Servlets, JSP, and Struts for full-stack apps.</a:t>
            </a:r>
          </a:p>
          <a:p>
            <a:pPr algn="just" marL="647695" indent="-323848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Application Projects: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Built real-time apps like chatbots and weather tools using external APIs and modern frameworks for responsive, dynamic updates.</a:t>
            </a:r>
          </a:p>
          <a:p>
            <a:pPr algn="just" marL="647695" indent="-323848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Management &amp; Deployment: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Handled project planning, testing, and deployment on Vercel and Firebase, ensuring compatibility and security.</a:t>
            </a:r>
          </a:p>
          <a:p>
            <a:pPr algn="just" marL="647695" indent="-323848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UI Optimization &amp; Bug Resolution: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Resolved bugs, improved UI performance, and implemented features through code refactoring and best practices.</a:t>
            </a:r>
          </a:p>
          <a:p>
            <a:pPr algn="just" marL="647695" indent="-323848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Communication &amp; Continuous Learning: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Communicated regularly, participated in code reviews, mentored others, and kept skills updated through training.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04/22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104900"/>
            <a:ext cx="1056888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ROLES AND RESPONSIBILITY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05/22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2274" y="4668837"/>
            <a:ext cx="5943451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WEEKLY REPORTS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06/22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372005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WEEK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81387"/>
            <a:ext cx="16230600" cy="316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99"/>
              </a:lnSpc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Orientation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Introduced to company structure, team dynamics, and ongoing   projects through a detailed session.</a:t>
            </a:r>
          </a:p>
          <a:p>
            <a:pPr algn="just">
              <a:lnSpc>
                <a:spcPts val="5099"/>
              </a:lnSpc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Onboarding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Completed setup of official email and internal platform access.</a:t>
            </a:r>
          </a:p>
          <a:p>
            <a:pPr algn="just">
              <a:lnSpc>
                <a:spcPts val="5099"/>
              </a:lnSpc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HTML Development :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Created structured web pages with forms, tables, and lists.</a:t>
            </a:r>
          </a:p>
          <a:p>
            <a:pPr algn="just">
              <a:lnSpc>
                <a:spcPts val="5099"/>
              </a:lnSpc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CSS Styling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Applied CSS Grid and Flexbox for responsive layouts.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07/22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253094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WEEK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543299"/>
            <a:ext cx="16230600" cy="2952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99"/>
              </a:lnSpc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Java Basics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Practiced syntax, data types, type casting, and input handling.</a:t>
            </a:r>
          </a:p>
          <a:p>
            <a:pPr algn="just">
              <a:lnSpc>
                <a:spcPts val="5999"/>
              </a:lnSpc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React Basics :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Built an app with functional components, props, and useState.</a:t>
            </a:r>
          </a:p>
          <a:p>
            <a:pPr algn="just">
              <a:lnSpc>
                <a:spcPts val="5999"/>
              </a:lnSpc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ProReact Development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Started a text utility app, enhancing Java OOP and React skills.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08/22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253094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WEEK 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543299"/>
            <a:ext cx="16230600" cy="2952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ProReact Deployment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Finalized and deployed ProReact, ensuring smooth performance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across devices and browsers.</a:t>
            </a:r>
          </a:p>
          <a:p>
            <a:pPr algn="just">
              <a:lnSpc>
                <a:spcPts val="59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Assessment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Completed a test on all covered topics, identified areas for improvement.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9/22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253094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WEEK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128962"/>
            <a:ext cx="16230600" cy="3924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Advanced Java Concepts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Worked with ArrayList, LinkedList, HashMap, HashSet, sorting, and ordered collections like TreeMap and TreeSet.</a:t>
            </a:r>
          </a:p>
          <a:p>
            <a:pPr algn="just">
              <a:lnSpc>
                <a:spcPts val="44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Weathery Development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Started building a React weather app using real-time data.</a:t>
            </a:r>
          </a:p>
          <a:p>
            <a:pPr algn="just">
              <a:lnSpc>
                <a:spcPts val="44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Exception Handling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Practiced try-catch-finally and custom exceptions to handle errors.</a:t>
            </a:r>
          </a:p>
          <a:p>
            <a:pPr algn="just">
              <a:lnSpc>
                <a:spcPts val="44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Assessment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Passed a Java test and progressed on Weathery’s UI and data integration, preparing for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10/22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253094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WEEK 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543299"/>
            <a:ext cx="16230600" cy="2952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jQuery and DOM Manipulation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Used jQuery for event handling and created a weather app using OpenWeather API in React.</a:t>
            </a:r>
          </a:p>
          <a:p>
            <a:pPr algn="just">
              <a:lnSpc>
                <a:spcPts val="5999"/>
              </a:lnSpc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Dynamic UI Enhancements :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Understood JavaScript, HTML, CSS, jQuery, DataTables, and Select2 for table sorting, pagination, and dropdowns</a:t>
            </a: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11/22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253094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WEEK 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320454"/>
            <a:ext cx="16230600" cy="370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Handling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Understood JDBC to connect databases, run SQL queries, and handle exceptions.</a:t>
            </a:r>
          </a:p>
          <a:p>
            <a:pPr algn="just">
              <a:lnSpc>
                <a:spcPts val="59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ChatNest Development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Built a real-time chatbot using Vite and Gemini API.</a:t>
            </a:r>
          </a:p>
          <a:p>
            <a:pPr algn="just">
              <a:lnSpc>
                <a:spcPts val="59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NodeSurge Development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Developed NodeSurge, a productivity app with text tools, to-do lists, and live weather updates.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12/22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253094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WEEK 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690937"/>
            <a:ext cx="16230600" cy="280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99"/>
              </a:lnSpc>
            </a:pPr>
          </a:p>
          <a:p>
            <a:pPr algn="just">
              <a:lnSpc>
                <a:spcPts val="44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 Development :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Focused on advancing frontend skills by learning Next.js, exploring its features like file-based routing, server-side rendering, and understanding how it differs from standard React.</a:t>
            </a:r>
          </a:p>
          <a:p>
            <a:pPr algn="just">
              <a:lnSpc>
                <a:spcPts val="449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13/22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253094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WEEK 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90824"/>
            <a:ext cx="16230600" cy="44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Web Development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Worked on React and Next.js, fixing UI issues and optimizing state management with Hooks.</a:t>
            </a:r>
          </a:p>
          <a:p>
            <a:pPr algn="just">
              <a:lnSpc>
                <a:spcPts val="59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Next.js Projects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Understood dynamic apps using routing, server-side rendering, and APIs like Agify and Genderize.</a:t>
            </a:r>
          </a:p>
          <a:p>
            <a:pPr algn="just">
              <a:lnSpc>
                <a:spcPts val="59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Advanced Skills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SSR methods and state management with Context API and Redux Toolkit for scalable apps.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14/22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253094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WEEK 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05100"/>
            <a:ext cx="16230600" cy="5210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Full-Stack Development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Built and developed a Next.js app with email features using EmailJS and worked with Context API. Next.js Architecture : Learned about how server and client work, data fetching, and SEO; started making for AI prompts. Authentication &amp; Development : Integrated NextAuth.js with MongoDB, fixed login issues, and deployed on Vercel. Testing &amp; Refinement: Tested thoroughly and improved the UI for better stability and scalability.</a:t>
            </a:r>
          </a:p>
          <a:p>
            <a:pPr algn="just">
              <a:lnSpc>
                <a:spcPts val="599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15/22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281613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WEEK 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543299"/>
            <a:ext cx="16230600" cy="2952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Granted access to VDI, code base, and Bitbucket repository</a:t>
            </a:r>
          </a:p>
          <a:p>
            <a:pPr algn="just" marL="647695" indent="-323848" lvl="1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Tasked with thoroughly reviewing the entire codebase</a:t>
            </a:r>
          </a:p>
          <a:p>
            <a:pPr algn="just" marL="647695" indent="-323848" lvl="1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Aimed to understand code structure, functionality, and quality</a:t>
            </a:r>
          </a:p>
          <a:p>
            <a:pPr algn="just" marL="647695" indent="-323848" lvl="1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Ensured code quality, identified potential issues, and learned project details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16/22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281613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WEEK 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543299"/>
            <a:ext cx="16230600" cy="2952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TICK:55636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Worked on Ticket TICK:55636 to improve wishlist behavior — now displays options for existing items instead of removing them.</a:t>
            </a:r>
          </a:p>
          <a:p>
            <a:pPr algn="just">
              <a:lnSpc>
                <a:spcPts val="5999"/>
              </a:lnSpc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TICK:114503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Implemented role-based logic so that the PO field is hidden for consumer users and visible only for business users upon login.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17/22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281613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WEEK 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167061"/>
            <a:ext cx="16230600" cy="3705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99"/>
              </a:lnSpc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Ticket Work Summary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Fixed a bug where applying or removing a coupon code during checkout caused unnecessary re-renders and flickering in the "</a:t>
            </a: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Recently Viewed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 and "</a:t>
            </a: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Related Products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 carousels. The issue was resolved by isolating coupon-related state updates from carousel components, ensuring smoother performance and a stable UI experience.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18/22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281613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WEEK 13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829050"/>
            <a:ext cx="16230600" cy="2952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59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Ticket TICK:129874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Ticket was raised to address a UI bug related to the Track Order modal behavior in the application. Specifically, the issue involved the modal appearing unnecessarily for users who were already logged in, causing confusion and a degraded user experience.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19/22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04900"/>
            <a:ext cx="281613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WEEK 14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506152"/>
            <a:ext cx="16230600" cy="445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99"/>
              </a:lnSpc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Task Focus &amp; Clarification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Focused on integrating </a:t>
            </a: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WebOrder#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filter for Ticket </a:t>
            </a: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TICK:129874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ticket involved updating the Track Order History page filters. When the accountNumber is null, the filter should show the WebOrderNumber option. I updated the filter logic to trigger dynamically when the contract name contains “indoff,” mapping </a:t>
            </a: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WebOrder#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 the </a:t>
            </a: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webOrderNumber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field by modifying the </a:t>
            </a: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SEARCH_BY_OPTIONS_INDOFF_CONTRACT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constant accordingly.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09650"/>
            <a:ext cx="849801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TECHNICAL OUTCOMES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47818" y="981075"/>
            <a:ext cx="37114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20/22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300050"/>
            <a:ext cx="16230600" cy="673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 &amp; Backend Skills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Built responsive UIs with React/Next.js and scalable backends with Java and MongoDB.</a:t>
            </a:r>
          </a:p>
          <a:p>
            <a:pPr algn="just" marL="647695" indent="-323848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Projects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Built and deployed applications like ChatNest (chatbot), NodeSurge (productivity tool), Weathery, and Promptlytic (AI prompt sharing).</a:t>
            </a:r>
          </a:p>
          <a:p>
            <a:pPr algn="just" marL="647695" indent="-323848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Java Ecosystem Knowledge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OOP, collections, Servlets, JSP, JDBC, and MVC with Struts.</a:t>
            </a:r>
          </a:p>
          <a:p>
            <a:pPr algn="just" marL="647695" indent="-323848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Code Management &amp; Development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Used Git for version control; contributed clean, optimized code via tickets and reviews.</a:t>
            </a:r>
          </a:p>
          <a:p>
            <a:pPr algn="just" marL="647695" indent="-323848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API &amp; Performance Optimization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Improved API integration and performance with state management and lazy loading in Next.js.</a:t>
            </a:r>
          </a:p>
          <a:p>
            <a:pPr algn="just" marL="647695" indent="-323848" lvl="1">
              <a:lnSpc>
                <a:spcPts val="44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Version Control &amp; Collaboration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Familiarized with Git platforms like Bitbucket for effective code management and team collaboration.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09650"/>
            <a:ext cx="10302809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NON-TECHNICAL OUTCOMES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47818" y="981075"/>
            <a:ext cx="37114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21/22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497716"/>
            <a:ext cx="16230600" cy="635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5" indent="-323848" lvl="1">
              <a:lnSpc>
                <a:spcPts val="50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Communication &amp; Collaboration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Improved through meetings, ticket discussions, and presentations.</a:t>
            </a:r>
          </a:p>
          <a:p>
            <a:pPr algn="just" marL="647695" indent="-323848" lvl="1">
              <a:lnSpc>
                <a:spcPts val="50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Problem-Solving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Enhanced debugging skills and adaptability to new challenges, both independently and in teams.</a:t>
            </a:r>
          </a:p>
          <a:p>
            <a:pPr algn="just" marL="647695" indent="-323848" lvl="1">
              <a:lnSpc>
                <a:spcPts val="50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Time Management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Balanced multiple projects and academic responsibilities while maintaining quality.</a:t>
            </a:r>
          </a:p>
          <a:p>
            <a:pPr algn="just" marL="647695" indent="-323848" lvl="1">
              <a:lnSpc>
                <a:spcPts val="50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Professionalism : 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Built punctuality, reliability, and accountability in meeting project commitments.</a:t>
            </a:r>
          </a:p>
          <a:p>
            <a:pPr algn="just" marL="647695" indent="-323848" lvl="1">
              <a:lnSpc>
                <a:spcPts val="50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Continuous Learning :</a:t>
            </a: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Maintained a mindset of ongoing learning, staying updated on design trends, tools, and technologies.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18230" y="4916805"/>
            <a:ext cx="5451539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6000" spc="25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DAGUXOFL4OU</dc:identifier>
  <dcterms:modified xsi:type="dcterms:W3CDTF">2011-08-01T06:04:30Z</dcterms:modified>
  <cp:revision>1</cp:revision>
  <dc:title>Internship</dc:title>
</cp:coreProperties>
</file>